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179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711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7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CASE STUDY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Bosta Egypt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9D9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Intelligence Dashboard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2743200" cy="0"/>
          </a:xfrm>
          <a:prstGeom prst="line">
            <a:avLst/>
          </a:prstGeom>
          <a:noFill/>
          <a:ln w="25400">
            <a:solidFill>
              <a:srgbClr val="F271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0690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Sameh Sabry El-Hosary
</a:t>
            </a: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981,247 shipment orders across 12 months (2025)
</a:t>
            </a: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(Data Cleaning) + Power BI (Modeling, DAX, Visualization)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parcel-delivery operations across 12 Egyptian cities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معاينة الداشبورد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Dashboard — Power BI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6092" y="1179576"/>
            <a:ext cx="10716768" cy="7406837"/>
          </a:xfrm>
          <a:prstGeom prst="roundRect">
            <a:avLst>
              <a:gd name="adj" fmla="val 741"/>
            </a:avLst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5" name="Image 0" descr="/home/claude/bosta_pptx/dashboard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1234440"/>
            <a:ext cx="10607040" cy="72971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Bosta Egypt — Logistics Performance Dashboard  |  Power BI Case Study  |  Sameh El-Hosary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تنظيف البيانات (Data Cleaning)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Raw, Messy Data to an Analysis-Ready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5F7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73152" cy="777240"/>
          </a:xfrm>
          <a:prstGeom prst="rect">
            <a:avLst/>
          </a:prstGeom>
          <a:solidFill>
            <a:srgbClr val="F2711F"/>
          </a:solidFill>
          <a:ln/>
        </p:spPr>
      </p:sp>
      <p:sp>
        <p:nvSpPr>
          <p:cNvPr id="6" name="Text 4"/>
          <p:cNvSpPr/>
          <p:nvPr/>
        </p:nvSpPr>
        <p:spPr>
          <a:xfrm>
            <a:off x="6080760" y="1463040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أسماء مدن غير موحّدة (cairo / CAIRO / alex)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توحيد كل المدن لصيغة قياسية واحدة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5F7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377440"/>
            <a:ext cx="73152" cy="777240"/>
          </a:xfrm>
          <a:prstGeom prst="rect">
            <a:avLst/>
          </a:prstGeom>
          <a:solidFill>
            <a:srgbClr val="F2711F"/>
          </a:solidFill>
          <a:ln/>
        </p:spPr>
      </p:sp>
      <p:sp>
        <p:nvSpPr>
          <p:cNvPr id="10" name="Text 8"/>
          <p:cNvSpPr/>
          <p:nvPr/>
        </p:nvSpPr>
        <p:spPr>
          <a:xfrm>
            <a:off x="6080760" y="2377440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أرقام فيها وحدات نصية (kg, EGP)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23774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استخراج الرقم وتحويله لـ Float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5F7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91840"/>
            <a:ext cx="73152" cy="777240"/>
          </a:xfrm>
          <a:prstGeom prst="rect">
            <a:avLst/>
          </a:prstGeom>
          <a:solidFill>
            <a:srgbClr val="F2711F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3291840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قيم سالبة خطأ في التكلفة (33,765 صف)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32918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تصحيح الإشارة باستخدام Absolute Value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5F7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206240"/>
            <a:ext cx="73152" cy="777240"/>
          </a:xfrm>
          <a:prstGeom prst="rect">
            <a:avLst/>
          </a:prstGeom>
          <a:solidFill>
            <a:srgbClr val="F2711F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4206240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مفاتيح غير متطابقة بين الجداول (~20 ألف صف)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تحويلها لـ Unknown + صف Unknown بكل بُعد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1206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F5F7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120640"/>
            <a:ext cx="73152" cy="777240"/>
          </a:xfrm>
          <a:prstGeom prst="rect">
            <a:avLst/>
          </a:prstGeom>
          <a:solidFill>
            <a:srgbClr val="F2711F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5120640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قيم فاقدة في أعمدة رقمية أساسية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51206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تعويضها بالوسيط (Median) بدل الحذف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608076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2233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6080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27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النتيجة: 981,247 صف نظيف بالكامل — 0% قيم فاقدة، جاهز للتحليل المباشر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Bosta Egypt — Logistics Performance Dashboard  |  Power BI Case Study  |  Sameh El-Hosary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نموذج البيانات (Star Schema)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937760" y="274320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2233F"/>
          </a:solidFill>
          <a:ln/>
        </p:spPr>
      </p:sp>
      <p:sp>
        <p:nvSpPr>
          <p:cNvPr id="4" name="Text 2"/>
          <p:cNvSpPr/>
          <p:nvPr/>
        </p:nvSpPr>
        <p:spPr>
          <a:xfrm>
            <a:off x="4937760" y="28529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27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Fact_Orders_Clean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37760" y="3291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981,247 rows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37760" y="7772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15875">
            <a:solidFill>
              <a:srgbClr val="F271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8503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37760" y="116128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 days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37360" y="19202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15875">
            <a:solidFill>
              <a:srgbClr val="F27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19933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737360" y="230428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5,001 customers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15875">
            <a:solidFill>
              <a:srgbClr val="F271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9933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Dim_Carriers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38160" y="230428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carriers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37360" y="379476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15875">
            <a:solidFill>
              <a:srgbClr val="F271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386791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737360" y="41788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 products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48920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FF1E6"/>
          </a:solidFill>
          <a:ln w="12700">
            <a:solidFill>
              <a:srgbClr val="F271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أربع علاقات 1→Many تربط جدول الحقائق المركزي بجداول الأبعاد الأربعة، مع جدول تاريخ مخصص (Dim_Date) لدعم التحليلات الزمنية (Time Intelligence) مثل النمو الشهري ومقارنة الفترات.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Bosta Egypt — Logistics Performance Dashboard  |  Power BI Case Study  |  Sameh El-Hosary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مؤشرات الأداء الرئيسية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1223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73352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7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981K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1508760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12233F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1673352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7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558.45M EGP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834640" y="228600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508760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12233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673352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7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342.87M EGP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Opr Costs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23760" y="1508760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12233F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1673352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-127.29M EGP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228600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18320" y="1508760"/>
            <a:ext cx="2029968" cy="1371600"/>
          </a:xfrm>
          <a:prstGeom prst="roundRect">
            <a:avLst>
              <a:gd name="adj" fmla="val 5333"/>
            </a:avLst>
          </a:prstGeom>
          <a:solidFill>
            <a:srgbClr val="12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0" y="1673352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71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418320" y="228600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Performance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97180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FF1E6"/>
          </a:solidFill>
          <a:ln w="12700">
            <a:solidFill>
              <a:srgbClr val="F271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971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ملحوظة فحص فني: قيمة Net Profit سالبة (-127.29M) رغم إن Total Fees أكبر من Total Opr Costs — يستحق مراجعة صيغة الـ DAX الخاصة بالمقياس قبل عرض الداشبورد نهائيًا (على الأغلب خطأ إشارة أو Context في المعادلة).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الإيراد الشهري (مليون جنيه) — تقدير تحليلي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415401"/>
            <a:ext cx="806196" cy="1208159"/>
          </a:xfrm>
          <a:prstGeom prst="roundRect">
            <a:avLst>
              <a:gd name="adj" fmla="val 2268"/>
            </a:avLst>
          </a:prstGeom>
          <a:solidFill>
            <a:srgbClr val="12233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159369"/>
            <a:ext cx="897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45.7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4360" y="5824728"/>
            <a:ext cx="8976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556004" y="4502642"/>
            <a:ext cx="806196" cy="1120918"/>
          </a:xfrm>
          <a:prstGeom prst="roundRect">
            <a:avLst>
              <a:gd name="adj" fmla="val 2268"/>
            </a:avLst>
          </a:prstGeom>
          <a:solidFill>
            <a:srgbClr val="12233F"/>
          </a:solidFill>
          <a:ln/>
        </p:spPr>
      </p:sp>
      <p:sp>
        <p:nvSpPr>
          <p:cNvPr id="25" name="Text 23"/>
          <p:cNvSpPr/>
          <p:nvPr/>
        </p:nvSpPr>
        <p:spPr>
          <a:xfrm>
            <a:off x="1510284" y="4246610"/>
            <a:ext cx="897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510284" y="5824728"/>
            <a:ext cx="8976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71928" y="4357240"/>
            <a:ext cx="806196" cy="1266320"/>
          </a:xfrm>
          <a:prstGeom prst="roundRect">
            <a:avLst>
              <a:gd name="adj" fmla="val 2268"/>
            </a:avLst>
          </a:prstGeom>
          <a:solidFill>
            <a:srgbClr val="12233F"/>
          </a:solidFill>
          <a:ln/>
        </p:spPr>
      </p:sp>
      <p:sp>
        <p:nvSpPr>
          <p:cNvPr id="28" name="Text 26"/>
          <p:cNvSpPr/>
          <p:nvPr/>
        </p:nvSpPr>
        <p:spPr>
          <a:xfrm>
            <a:off x="2426208" y="4101208"/>
            <a:ext cx="897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47.9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426208" y="5824728"/>
            <a:ext cx="8976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87852" y="4470918"/>
            <a:ext cx="806196" cy="1152642"/>
          </a:xfrm>
          <a:prstGeom prst="roundRect">
            <a:avLst>
              <a:gd name="adj" fmla="val 2268"/>
            </a:avLst>
          </a:prstGeom>
          <a:solidFill>
            <a:srgbClr val="12233F"/>
          </a:solidFill>
          <a:ln/>
        </p:spPr>
      </p:sp>
      <p:sp>
        <p:nvSpPr>
          <p:cNvPr id="31" name="Text 29"/>
          <p:cNvSpPr/>
          <p:nvPr/>
        </p:nvSpPr>
        <p:spPr>
          <a:xfrm>
            <a:off x="3342132" y="4214886"/>
            <a:ext cx="897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42132" y="5824728"/>
            <a:ext cx="8976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03776" y="4457700"/>
            <a:ext cx="806196" cy="1165860"/>
          </a:xfrm>
          <a:prstGeom prst="roundRect">
            <a:avLst>
              <a:gd name="adj" fmla="val 2268"/>
            </a:avLst>
          </a:prstGeom>
          <a:solidFill>
            <a:srgbClr val="12233F"/>
          </a:solidFill>
          <a:ln/>
        </p:spPr>
      </p:sp>
      <p:sp>
        <p:nvSpPr>
          <p:cNvPr id="34" name="Text 32"/>
          <p:cNvSpPr/>
          <p:nvPr/>
        </p:nvSpPr>
        <p:spPr>
          <a:xfrm>
            <a:off x="4258056" y="4201668"/>
            <a:ext cx="897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258056" y="5824728"/>
            <a:ext cx="8976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219700" y="4444482"/>
            <a:ext cx="806196" cy="1179078"/>
          </a:xfrm>
          <a:prstGeom prst="roundRect">
            <a:avLst>
              <a:gd name="adj" fmla="val 2268"/>
            </a:avLst>
          </a:prstGeom>
          <a:solidFill>
            <a:srgbClr val="12233F"/>
          </a:solidFill>
          <a:ln/>
        </p:spPr>
      </p:sp>
      <p:sp>
        <p:nvSpPr>
          <p:cNvPr id="37" name="Text 35"/>
          <p:cNvSpPr/>
          <p:nvPr/>
        </p:nvSpPr>
        <p:spPr>
          <a:xfrm>
            <a:off x="5173980" y="4188450"/>
            <a:ext cx="897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173980" y="5824728"/>
            <a:ext cx="8976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35624" y="4412758"/>
            <a:ext cx="806196" cy="1210802"/>
          </a:xfrm>
          <a:prstGeom prst="roundRect">
            <a:avLst>
              <a:gd name="adj" fmla="val 2268"/>
            </a:avLst>
          </a:prstGeom>
          <a:solidFill>
            <a:srgbClr val="12233F"/>
          </a:solidFill>
          <a:ln/>
        </p:spPr>
      </p:sp>
      <p:sp>
        <p:nvSpPr>
          <p:cNvPr id="40" name="Text 38"/>
          <p:cNvSpPr/>
          <p:nvPr/>
        </p:nvSpPr>
        <p:spPr>
          <a:xfrm>
            <a:off x="6089904" y="4156726"/>
            <a:ext cx="897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45.8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089904" y="5824728"/>
            <a:ext cx="8976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051548" y="4410114"/>
            <a:ext cx="806196" cy="1213446"/>
          </a:xfrm>
          <a:prstGeom prst="roundRect">
            <a:avLst>
              <a:gd name="adj" fmla="val 2268"/>
            </a:avLst>
          </a:prstGeom>
          <a:solidFill>
            <a:srgbClr val="12233F"/>
          </a:solidFill>
          <a:ln/>
        </p:spPr>
      </p:sp>
      <p:sp>
        <p:nvSpPr>
          <p:cNvPr id="43" name="Text 41"/>
          <p:cNvSpPr/>
          <p:nvPr/>
        </p:nvSpPr>
        <p:spPr>
          <a:xfrm>
            <a:off x="7005828" y="4154082"/>
            <a:ext cx="897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45.9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005828" y="5824728"/>
            <a:ext cx="8976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967472" y="4447125"/>
            <a:ext cx="806196" cy="1176435"/>
          </a:xfrm>
          <a:prstGeom prst="roundRect">
            <a:avLst>
              <a:gd name="adj" fmla="val 2268"/>
            </a:avLst>
          </a:prstGeom>
          <a:solidFill>
            <a:srgbClr val="12233F"/>
          </a:solidFill>
          <a:ln/>
        </p:spPr>
      </p:sp>
      <p:sp>
        <p:nvSpPr>
          <p:cNvPr id="46" name="Text 44"/>
          <p:cNvSpPr/>
          <p:nvPr/>
        </p:nvSpPr>
        <p:spPr>
          <a:xfrm>
            <a:off x="7921752" y="4191093"/>
            <a:ext cx="897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44.5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921752" y="5824728"/>
            <a:ext cx="8976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883396" y="4370459"/>
            <a:ext cx="806196" cy="1253101"/>
          </a:xfrm>
          <a:prstGeom prst="roundRect">
            <a:avLst>
              <a:gd name="adj" fmla="val 2268"/>
            </a:avLst>
          </a:prstGeom>
          <a:solidFill>
            <a:srgbClr val="12233F"/>
          </a:solidFill>
          <a:ln/>
        </p:spPr>
      </p:sp>
      <p:sp>
        <p:nvSpPr>
          <p:cNvPr id="49" name="Text 47"/>
          <p:cNvSpPr/>
          <p:nvPr/>
        </p:nvSpPr>
        <p:spPr>
          <a:xfrm>
            <a:off x="8837676" y="4114427"/>
            <a:ext cx="897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47.4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837676" y="5824728"/>
            <a:ext cx="8976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799320" y="4069080"/>
            <a:ext cx="806196" cy="1554480"/>
          </a:xfrm>
          <a:prstGeom prst="roundRect">
            <a:avLst>
              <a:gd name="adj" fmla="val 2268"/>
            </a:avLst>
          </a:prstGeom>
          <a:solidFill>
            <a:srgbClr val="F2711F"/>
          </a:solidFill>
          <a:ln/>
        </p:spPr>
      </p:sp>
      <p:sp>
        <p:nvSpPr>
          <p:cNvPr id="52" name="Text 50"/>
          <p:cNvSpPr/>
          <p:nvPr/>
        </p:nvSpPr>
        <p:spPr>
          <a:xfrm>
            <a:off x="9753600" y="3813048"/>
            <a:ext cx="897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58.8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9753600" y="5824728"/>
            <a:ext cx="8976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715244" y="4373102"/>
            <a:ext cx="806196" cy="1250458"/>
          </a:xfrm>
          <a:prstGeom prst="roundRect">
            <a:avLst>
              <a:gd name="adj" fmla="val 2268"/>
            </a:avLst>
          </a:prstGeom>
          <a:solidFill>
            <a:srgbClr val="12233F"/>
          </a:solidFill>
          <a:ln/>
        </p:spPr>
      </p:sp>
      <p:sp>
        <p:nvSpPr>
          <p:cNvPr id="55" name="Text 53"/>
          <p:cNvSpPr/>
          <p:nvPr/>
        </p:nvSpPr>
        <p:spPr>
          <a:xfrm>
            <a:off x="10669524" y="4117070"/>
            <a:ext cx="8976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47.3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0669524" y="5824728"/>
            <a:ext cx="8976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Bosta Egypt — Logistics Performance Dashboard  |  Power BI Case Study  |  Sameh El-Hosary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حالة الطلبات وتوزيع الفئات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257800" cy="5074920"/>
          </a:xfrm>
          <a:prstGeom prst="roundRect">
            <a:avLst>
              <a:gd name="adj" fmla="val 1802"/>
            </a:avLst>
          </a:prstGeom>
          <a:solidFill>
            <a:srgbClr val="F5F7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258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Breakdown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4709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74520"/>
            <a:ext cx="64008" cy="566928"/>
          </a:xfrm>
          <a:prstGeom prst="rect">
            <a:avLst/>
          </a:prstGeom>
          <a:solidFill>
            <a:srgbClr val="12233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7452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85.13%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187452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587752"/>
            <a:ext cx="4709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87752"/>
            <a:ext cx="64008" cy="566928"/>
          </a:xfrm>
          <a:prstGeom prst="rect">
            <a:avLst/>
          </a:prstGeom>
          <a:solidFill>
            <a:srgbClr val="F2711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587752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6.97%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258775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300984"/>
            <a:ext cx="4709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300984"/>
            <a:ext cx="64008" cy="566928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300984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3.95%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330098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In-Transit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014216"/>
            <a:ext cx="4709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014216"/>
            <a:ext cx="64008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014216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2.96%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94560" y="401421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4727448"/>
            <a:ext cx="4709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727448"/>
            <a:ext cx="64008" cy="566928"/>
          </a:xfrm>
          <a:prstGeom prst="rect">
            <a:avLst/>
          </a:prstGeom>
          <a:solidFill>
            <a:srgbClr val="B5B5B5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72744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94560" y="472744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55321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معدل تسليم يعتبر جيد تشغيليًا، لكن 6.97% إرجاع + 2.96% فقد بيستحقوا مراجعة أسباب جذرية.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1188720"/>
            <a:ext cx="5257800" cy="5074920"/>
          </a:xfrm>
          <a:prstGeom prst="roundRect">
            <a:avLst>
              <a:gd name="adj" fmla="val 1802"/>
            </a:avLst>
          </a:prstGeom>
          <a:solidFill>
            <a:srgbClr val="F5F7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3258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Category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37960" y="1874520"/>
            <a:ext cx="4709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187452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7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162.8M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09560" y="187452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37960" y="2587752"/>
            <a:ext cx="4709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258775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7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128.8M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909560" y="258775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37960" y="3300984"/>
            <a:ext cx="4709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3300984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7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100.9M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909560" y="330098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37960" y="4014216"/>
            <a:ext cx="4709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401421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7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89.5M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909560" y="401421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537960" y="4727448"/>
            <a:ext cx="4709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472744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7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50.8M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909560" y="472744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37960" y="55321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فئة FMCG هي الأعلى إيرادًا بفارق واضح، وده منطقي بحكم تكرار الشراء العالي لمنتجاتها اليومية.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Bosta Egypt — Logistics Performance Dashboard  |  Power BI Case Study  |  Sameh El-Hosary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أداء المندوبين والمركبات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881360" cy="2103120"/>
          </a:xfrm>
          <a:prstGeom prst="roundRect">
            <a:avLst>
              <a:gd name="adj" fmla="val 4348"/>
            </a:avLst>
          </a:prstGeom>
          <a:solidFill>
            <a:srgbClr val="F5F7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984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Vehicle Type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418320" y="17373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0" y="1755648"/>
            <a:ext cx="7772400" cy="256032"/>
          </a:xfrm>
          <a:prstGeom prst="roundRect">
            <a:avLst>
              <a:gd name="adj" fmla="val 10714"/>
            </a:avLst>
          </a:prstGeom>
          <a:solidFill>
            <a:srgbClr val="12233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389,505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418320" y="21945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97537" y="2212848"/>
            <a:ext cx="6620783" cy="256032"/>
          </a:xfrm>
          <a:prstGeom prst="roundRect">
            <a:avLst>
              <a:gd name="adj" fmla="val 10714"/>
            </a:avLst>
          </a:prstGeom>
          <a:solidFill>
            <a:srgbClr val="12233F"/>
          </a:solidFill>
          <a:ln/>
        </p:spPr>
      </p:sp>
      <p:sp>
        <p:nvSpPr>
          <p:cNvPr id="10" name="Text 8"/>
          <p:cNvSpPr/>
          <p:nvPr/>
        </p:nvSpPr>
        <p:spPr>
          <a:xfrm>
            <a:off x="1883137" y="219456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331,793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418320" y="26517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7-Ton Truck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00385" y="2670048"/>
            <a:ext cx="4217935" cy="256032"/>
          </a:xfrm>
          <a:prstGeom prst="roundRect">
            <a:avLst>
              <a:gd name="adj" fmla="val 10714"/>
            </a:avLst>
          </a:prstGeom>
          <a:solidFill>
            <a:srgbClr val="12233F"/>
          </a:solidFill>
          <a:ln/>
        </p:spPr>
      </p:sp>
      <p:sp>
        <p:nvSpPr>
          <p:cNvPr id="13" name="Text 11"/>
          <p:cNvSpPr/>
          <p:nvPr/>
        </p:nvSpPr>
        <p:spPr>
          <a:xfrm>
            <a:off x="4285985" y="265176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211,377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0" y="31089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49087" y="3127248"/>
            <a:ext cx="969233" cy="256032"/>
          </a:xfrm>
          <a:prstGeom prst="roundRect">
            <a:avLst>
              <a:gd name="adj" fmla="val 10714"/>
            </a:avLst>
          </a:prstGeom>
          <a:solidFill>
            <a:srgbClr val="12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7534687" y="310896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48,572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10881360" cy="2743200"/>
          </a:xfrm>
          <a:prstGeom prst="roundRect">
            <a:avLst>
              <a:gd name="adj" fmla="val 3333"/>
            </a:avLst>
          </a:prstGeom>
          <a:solidFill>
            <a:srgbClr val="FFF1E6"/>
          </a:solidFill>
          <a:ln w="12700">
            <a:solidFill>
              <a:srgbClr val="F271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6576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ملاحظات عملياتية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023360"/>
            <a:ext cx="10332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الـ Van هو نوع المركبة الأكثر استخدامًا (39.7% من الطلبات)، تليها الموتوسيكل (33.8%) - غالبًا للتوصيل داخل المدن.</a:t>
            </a:r>
            <a:endParaRPr lang="en-US" sz="1250" dirty="0"/>
          </a:p>
          <a:p>
            <a:pPr marL="0" indent="0" algn="r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معدل التسليم شبه ثابت (~85%) عبر كل أنواع المركبات، يعني الأداء مش مرتبط بنوع المركبة بقدر ما هو مرتبط بعوامل تانية (المنطقة، الطقس، المسافة).</a:t>
            </a:r>
            <a:endParaRPr lang="en-US" sz="1250" dirty="0"/>
          </a:p>
          <a:p>
            <a:pPr marL="0" indent="0" algn="r">
              <a:lnSpc>
                <a:spcPct val="140000"/>
              </a:lnSpc>
              <a:buNone/>
            </a:pPr>
            <a:r>
              <a:rPr lang="en-US" sz="125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منطقة الدلتا والقاهرة يمثلوا تقريبًا نصف إجمالي الطلبات (≈51%)، وده بيوجّه لأولوية توزيع الموارد اللوجستية على المنطقتين دول.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Bosta Egypt — Logistics Performance Dashboard  |  Power BI Case Study  |  Sameh El-Hosary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أهم الرؤى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B1A2E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82880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F2711F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0" y="1828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موسمية واضحة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نوفمبر سجّل أعلى عدد طلبات (103,033) بزيادة ~30% عن المتوسط الشهري — على الأغلب بسبب مواسم التخفيضات.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B1A2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301752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F2711F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0" y="3017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ربحية صحية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هامش ربح إجمالي 34% تقريبًا (189.9M من 558.1M إيراد) عبر كل العمليات.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B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0" y="420624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F2711F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4206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اعتماد كبير على الدفع عند الاستلام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93192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من الإيرادات جايه من Cash on Delivery — فرصة للتوسع في المحفظة الإلكترونية وبطاقات الائتمان.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B1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8778240" y="5394960"/>
            <a:ext cx="2468880" cy="502920"/>
          </a:xfrm>
          <a:prstGeom prst="roundRect">
            <a:avLst>
              <a:gd name="adj" fmla="val 49091"/>
            </a:avLst>
          </a:prstGeom>
          <a:solidFill>
            <a:srgbClr val="F2711F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0" y="5394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فرصة تحسين في معدل الفقد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2.96% من الطلبات مفقودة، وده بيمثل خسارة مباشرة تستحق تحليل جذري حسب المنطقة والمندوب.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Bosta Egypt — Logistics Performance Dashboard  |  Power BI Case Study  |  Sameh El-Hosary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الأدوات والمهارات المستخدمة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578608" cy="3017520"/>
          </a:xfrm>
          <a:prstGeom prst="roundRect">
            <a:avLst>
              <a:gd name="adj" fmla="val 2837"/>
            </a:avLst>
          </a:prstGeom>
          <a:solidFill>
            <a:srgbClr val="F5F7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2578608" cy="548640"/>
          </a:xfrm>
          <a:prstGeom prst="roundRect">
            <a:avLst>
              <a:gd name="adj" fmla="val 13333"/>
            </a:avLst>
          </a:prstGeom>
          <a:solidFill>
            <a:srgbClr val="F2711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230428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(Pandas)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Handling ~1M rows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Referential Integrity Checks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55848" y="1371600"/>
            <a:ext cx="2578608" cy="3017520"/>
          </a:xfrm>
          <a:prstGeom prst="roundRect">
            <a:avLst>
              <a:gd name="adj" fmla="val 2837"/>
            </a:avLst>
          </a:prstGeom>
          <a:solidFill>
            <a:srgbClr val="F5F7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55848" y="1371600"/>
            <a:ext cx="2578608" cy="548640"/>
          </a:xfrm>
          <a:prstGeom prst="roundRect">
            <a:avLst>
              <a:gd name="adj" fmla="val 13333"/>
            </a:avLst>
          </a:prstGeom>
          <a:solidFill>
            <a:srgbClr val="F2711F"/>
          </a:solidFill>
          <a:ln/>
        </p:spPr>
      </p:sp>
      <p:sp>
        <p:nvSpPr>
          <p:cNvPr id="9" name="Text 7"/>
          <p:cNvSpPr/>
          <p:nvPr/>
        </p:nvSpPr>
        <p:spPr>
          <a:xfrm>
            <a:off x="3355848" y="1371600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93008" y="2103120"/>
            <a:ext cx="230428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 Schema Design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Fact-Dim Relationships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Dim_Date Table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71616" y="1371600"/>
            <a:ext cx="2578608" cy="3017520"/>
          </a:xfrm>
          <a:prstGeom prst="roundRect">
            <a:avLst>
              <a:gd name="adj" fmla="val 2837"/>
            </a:avLst>
          </a:prstGeom>
          <a:solidFill>
            <a:srgbClr val="F5F7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71616" y="1371600"/>
            <a:ext cx="2578608" cy="548640"/>
          </a:xfrm>
          <a:prstGeom prst="roundRect">
            <a:avLst>
              <a:gd name="adj" fmla="val 13333"/>
            </a:avLst>
          </a:prstGeom>
          <a:solidFill>
            <a:srgbClr val="F2711F"/>
          </a:solidFill>
          <a:ln/>
        </p:spPr>
      </p:sp>
      <p:sp>
        <p:nvSpPr>
          <p:cNvPr id="13" name="Text 11"/>
          <p:cNvSpPr/>
          <p:nvPr/>
        </p:nvSpPr>
        <p:spPr>
          <a:xfrm>
            <a:off x="6071616" y="1371600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&amp; Analysis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08776" y="2103120"/>
            <a:ext cx="230428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 Measures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 Intelligence (MoM)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Rate &amp; Margin Calculations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87384" y="1371600"/>
            <a:ext cx="2578608" cy="3017520"/>
          </a:xfrm>
          <a:prstGeom prst="roundRect">
            <a:avLst>
              <a:gd name="adj" fmla="val 2837"/>
            </a:avLst>
          </a:prstGeom>
          <a:solidFill>
            <a:srgbClr val="F5F7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87384" y="1371600"/>
            <a:ext cx="2578608" cy="548640"/>
          </a:xfrm>
          <a:prstGeom prst="roundRect">
            <a:avLst>
              <a:gd name="adj" fmla="val 13333"/>
            </a:avLst>
          </a:prstGeom>
          <a:solidFill>
            <a:srgbClr val="F2711F"/>
          </a:solidFill>
          <a:ln/>
        </p:spPr>
      </p:sp>
      <p:sp>
        <p:nvSpPr>
          <p:cNvPr id="17" name="Text 15"/>
          <p:cNvSpPr/>
          <p:nvPr/>
        </p:nvSpPr>
        <p:spPr>
          <a:xfrm>
            <a:off x="8787384" y="1371600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24544" y="2103120"/>
            <a:ext cx="230428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Multi-page Power BI Report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Slicers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 Cards &amp; Trend Charts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12233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7548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F27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لماذا هذا المشروع مختلف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4400" y="50749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التعامل مع حجم بيانات حقيقي (~مليون صف) وبيانات فعليًا غير نظيفة (وحدات نصية، إشارات خاطئة، مفاتيح مفقودة) يحاكي تحديات بيئة العمل الفعلية، أكتر من أي داتاسيت نظيف جاهز للاستخدام مباشرة.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Bosta Egypt — Logistics Performance Dashboard  |  Power BI Case Study  |  Sameh El-Hosary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711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شكرًا لاهتمامكم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27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0"/>
            <a:ext cx="1033272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1188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Sameh Sabry El-Hosary
</a:t>
            </a:r>
            <a:r>
              <a:rPr lang="en-US" sz="13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| Business Intelligence Analyst
</a:t>
            </a: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</a:t>
            </a:r>
            <a:r>
              <a:rPr lang="en-US" sz="1300" dirty="0">
                <a:solidFill>
                  <a:srgbClr val="F27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[(https://portfolio-nu-eight-ptyu369cvc.vercel.app)]
</a:t>
            </a: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300" dirty="0">
                <a:solidFill>
                  <a:srgbClr val="F27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[https://github.com/SamehElhosary0]
</a:t>
            </a: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</a:t>
            </a:r>
            <a:r>
              <a:rPr lang="en-US" sz="1300" dirty="0">
                <a:solidFill>
                  <a:srgbClr val="F27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[(https://linkedin.com/in/sameh-el-hosary-)]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890</Words>
  <Application>Microsoft Office PowerPoint</Application>
  <PresentationFormat>Widescreen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lap</cp:lastModifiedBy>
  <cp:revision>2</cp:revision>
  <dcterms:created xsi:type="dcterms:W3CDTF">2026-07-18T09:29:19Z</dcterms:created>
  <dcterms:modified xsi:type="dcterms:W3CDTF">2026-07-18T09:34:55Z</dcterms:modified>
</cp:coreProperties>
</file>